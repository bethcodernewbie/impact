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ileron" panose="020B0604020202020204" charset="0"/>
      <p:regular r:id="rId7"/>
    </p:embeddedFont>
    <p:embeddedFont>
      <p:font typeface="Aileron Bold" panose="020B0604020202020204" charset="0"/>
      <p:regular r:id="rId8"/>
    </p:embeddedFont>
    <p:embeddedFont>
      <p:font typeface="Aileron Heavy" panose="020B0604020202020204" charset="0"/>
      <p:regular r:id="rId9"/>
    </p:embeddedFont>
    <p:embeddedFont>
      <p:font typeface="Aileron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719738"/>
            <a:ext cx="18288000" cy="18288000"/>
          </a:xfrm>
          <a:custGeom>
            <a:avLst/>
            <a:gdLst/>
            <a:ahLst/>
            <a:cxnLst/>
            <a:rect l="l" t="t" r="r" b="b"/>
            <a:pathLst>
              <a:path w="18288000" h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7830574"/>
            <a:ext cx="16230600" cy="1427726"/>
            <a:chOff x="0" y="0"/>
            <a:chExt cx="4274726" cy="3760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376027"/>
            </a:xfrm>
            <a:custGeom>
              <a:avLst/>
              <a:gdLst/>
              <a:ahLst/>
              <a:cxnLst/>
              <a:rect l="l" t="t" r="r" b="b"/>
              <a:pathLst>
                <a:path w="4274726" h="376027">
                  <a:moveTo>
                    <a:pt x="0" y="0"/>
                  </a:moveTo>
                  <a:lnTo>
                    <a:pt x="4274726" y="0"/>
                  </a:lnTo>
                  <a:lnTo>
                    <a:pt x="4274726" y="376027"/>
                  </a:lnTo>
                  <a:lnTo>
                    <a:pt x="0" y="376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274726" cy="433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       IMPACT - Data Lake Team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853529"/>
            <a:ext cx="17259300" cy="5225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79"/>
              </a:lnSpc>
            </a:pPr>
            <a:r>
              <a:rPr lang="en-US" sz="12000" b="1" spc="120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Data Governance &amp; </a:t>
            </a:r>
          </a:p>
          <a:p>
            <a:pPr algn="l">
              <a:lnSpc>
                <a:spcPts val="13679"/>
              </a:lnSpc>
            </a:pPr>
            <a:r>
              <a:rPr lang="en-US" sz="12000" b="1" spc="120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Storage Framework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6937369" cy="196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b="1" spc="12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Team &amp; Partnership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89933" y="3280946"/>
            <a:ext cx="6520266" cy="2180928"/>
            <a:chOff x="0" y="0"/>
            <a:chExt cx="8693688" cy="2907904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8693688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93"/>
                </a:lnSpc>
              </a:pPr>
              <a:r>
                <a:rPr lang="en-US" sz="3077" b="1">
                  <a:solidFill>
                    <a:srgbClr val="1C88C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Team Members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91716"/>
              <a:ext cx="8693688" cy="2016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65131" lvl="1" indent="-232566" algn="l">
                <a:lnSpc>
                  <a:spcPts val="3016"/>
                </a:lnSpc>
                <a:buFont typeface="Arial"/>
                <a:buChar char="•"/>
              </a:pPr>
              <a:r>
                <a:rPr lang="en-US" sz="2154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Roger Petrin</a:t>
              </a:r>
            </a:p>
            <a:p>
              <a:pPr marL="465131" lvl="1" indent="-232566" algn="l">
                <a:lnSpc>
                  <a:spcPts val="3016"/>
                </a:lnSpc>
                <a:buFont typeface="Arial"/>
                <a:buChar char="•"/>
              </a:pPr>
              <a:r>
                <a:rPr lang="en-US" sz="2154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Spencer Russell</a:t>
              </a:r>
            </a:p>
            <a:p>
              <a:pPr marL="465131" lvl="1" indent="-232566" algn="l">
                <a:lnSpc>
                  <a:spcPts val="3016"/>
                </a:lnSpc>
                <a:buFont typeface="Arial"/>
                <a:buChar char="•"/>
              </a:pPr>
              <a:r>
                <a:rPr lang="en-US" sz="2154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Shashidhar Reddy Parapatakam</a:t>
              </a:r>
            </a:p>
            <a:p>
              <a:pPr marL="465131" lvl="1" indent="-232566" algn="l">
                <a:lnSpc>
                  <a:spcPts val="3016"/>
                </a:lnSpc>
                <a:buFont typeface="Arial"/>
                <a:buChar char="•"/>
              </a:pPr>
              <a:r>
                <a:rPr lang="en-US" sz="2154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Thi Nguyen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12232967" y="4231967"/>
            <a:ext cx="10287000" cy="1823066"/>
            <a:chOff x="0" y="0"/>
            <a:chExt cx="2709333" cy="4801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3" cy="480149"/>
            </a:xfrm>
            <a:custGeom>
              <a:avLst/>
              <a:gdLst/>
              <a:ahLst/>
              <a:cxnLst/>
              <a:rect l="l" t="t" r="r" b="b"/>
              <a:pathLst>
                <a:path w="2709333" h="480149">
                  <a:moveTo>
                    <a:pt x="0" y="0"/>
                  </a:moveTo>
                  <a:lnTo>
                    <a:pt x="2709333" y="0"/>
                  </a:lnTo>
                  <a:lnTo>
                    <a:pt x="2709333" y="480149"/>
                  </a:lnTo>
                  <a:lnTo>
                    <a:pt x="0" y="480149"/>
                  </a:lnTo>
                  <a:close/>
                </a:path>
              </a:pathLst>
            </a:custGeom>
            <a:solidFill>
              <a:srgbClr val="37C9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3" cy="51824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1800" spc="5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IMPACT-DATA LAKE TEAM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577666" y="1028700"/>
            <a:ext cx="6856191" cy="8229600"/>
            <a:chOff x="0" y="0"/>
            <a:chExt cx="1805746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5746" cy="2167467"/>
            </a:xfrm>
            <a:custGeom>
              <a:avLst/>
              <a:gdLst/>
              <a:ahLst/>
              <a:cxnLst/>
              <a:rect l="l" t="t" r="r" b="b"/>
              <a:pathLst>
                <a:path w="1805746" h="2167467">
                  <a:moveTo>
                    <a:pt x="0" y="0"/>
                  </a:moveTo>
                  <a:lnTo>
                    <a:pt x="1805746" y="0"/>
                  </a:lnTo>
                  <a:lnTo>
                    <a:pt x="180574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EDF0F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80574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27556" y="1321544"/>
            <a:ext cx="6156412" cy="7643911"/>
            <a:chOff x="0" y="0"/>
            <a:chExt cx="8208550" cy="10191882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2"/>
            <a:srcRect t="22718" b="22718"/>
            <a:stretch>
              <a:fillRect/>
            </a:stretch>
          </p:blipFill>
          <p:spPr>
            <a:xfrm>
              <a:off x="0" y="0"/>
              <a:ext cx="8208550" cy="6709921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/>
            <a:srcRect t="16105" b="16105"/>
            <a:stretch>
              <a:fillRect/>
            </a:stretch>
          </p:blipFill>
          <p:spPr>
            <a:xfrm>
              <a:off x="0" y="6836921"/>
              <a:ext cx="8208550" cy="3354961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1089933" y="6016129"/>
            <a:ext cx="6520266" cy="1799928"/>
            <a:chOff x="0" y="0"/>
            <a:chExt cx="8693688" cy="2399904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8693688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93"/>
                </a:lnSpc>
              </a:pPr>
              <a:r>
                <a:rPr lang="en-US" sz="3077" b="1">
                  <a:solidFill>
                    <a:srgbClr val="1C88C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Faculty and Staff Advisors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91716"/>
              <a:ext cx="8693688" cy="1508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65131" lvl="1" indent="-232566" algn="l">
                <a:lnSpc>
                  <a:spcPts val="3016"/>
                </a:lnSpc>
                <a:buFont typeface="Arial"/>
                <a:buChar char="•"/>
              </a:pPr>
              <a:r>
                <a:rPr lang="en-US" sz="2154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Dr. Justin Keeler</a:t>
              </a:r>
            </a:p>
            <a:p>
              <a:pPr marL="465131" lvl="1" indent="-232566" algn="l">
                <a:lnSpc>
                  <a:spcPts val="3016"/>
                </a:lnSpc>
                <a:buFont typeface="Arial"/>
                <a:buChar char="•"/>
              </a:pPr>
              <a:r>
                <a:rPr lang="en-US" sz="2154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Rediet Delelegn</a:t>
              </a:r>
            </a:p>
            <a:p>
              <a:pPr marL="465131" lvl="1" indent="-232566" algn="l">
                <a:lnSpc>
                  <a:spcPts val="3016"/>
                </a:lnSpc>
                <a:buFont typeface="Arial"/>
                <a:buChar char="•"/>
              </a:pPr>
              <a:r>
                <a:rPr lang="en-US" sz="2154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Alexander Ziegler, Ph.D.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89933" y="8370312"/>
            <a:ext cx="6520266" cy="1418928"/>
            <a:chOff x="0" y="0"/>
            <a:chExt cx="8693688" cy="1891904"/>
          </a:xfrm>
        </p:grpSpPr>
        <p:sp>
          <p:nvSpPr>
            <p:cNvPr id="19" name="TextBox 19"/>
            <p:cNvSpPr txBox="1"/>
            <p:nvPr/>
          </p:nvSpPr>
          <p:spPr>
            <a:xfrm>
              <a:off x="0" y="0"/>
              <a:ext cx="8693688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93"/>
                </a:lnSpc>
              </a:pPr>
              <a:r>
                <a:rPr lang="en-US" sz="3077" b="1">
                  <a:solidFill>
                    <a:srgbClr val="1C88C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City of Wichita Partnership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891716"/>
              <a:ext cx="8693688" cy="1000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65131" lvl="1" indent="-232566" algn="l">
                <a:lnSpc>
                  <a:spcPts val="3016"/>
                </a:lnSpc>
                <a:buFont typeface="Arial"/>
                <a:buChar char="•"/>
              </a:pPr>
              <a:r>
                <a:rPr lang="en-US" sz="2154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Michael Barnett – Smart City Coordinator </a:t>
              </a:r>
            </a:p>
            <a:p>
              <a:pPr marL="465131" lvl="1" indent="-232566" algn="l">
                <a:lnSpc>
                  <a:spcPts val="3016"/>
                </a:lnSpc>
                <a:buFont typeface="Arial"/>
                <a:buChar char="•"/>
              </a:pPr>
              <a:r>
                <a:rPr lang="en-US" sz="2154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Kyle Tate – Data Architect  - City of Wichita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00002" y="1028700"/>
            <a:ext cx="14287996" cy="1159261"/>
            <a:chOff x="0" y="0"/>
            <a:chExt cx="19050662" cy="1545681"/>
          </a:xfrm>
        </p:grpSpPr>
        <p:sp>
          <p:nvSpPr>
            <p:cNvPr id="3" name="TextBox 3"/>
            <p:cNvSpPr txBox="1"/>
            <p:nvPr/>
          </p:nvSpPr>
          <p:spPr>
            <a:xfrm>
              <a:off x="0" y="1122771"/>
              <a:ext cx="19050662" cy="422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0"/>
                </a:lnSpc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9050662" cy="1025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PROJECT OBJECTIVES</a:t>
              </a:r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28700" y="4210019"/>
          <a:ext cx="15138652" cy="4853497"/>
        </p:xfrm>
        <a:graphic>
          <a:graphicData uri="http://schemas.openxmlformats.org/drawingml/2006/table">
            <a:tbl>
              <a:tblPr/>
              <a:tblGrid>
                <a:gridCol w="3784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4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4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4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09026">
                <a:tc rowSpan="2"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DATA GOVERNANCE FOUNDATION</a:t>
                      </a:r>
                      <a:endParaRPr lang="en-US" sz="1100"/>
                    </a:p>
                    <a:p>
                      <a:pPr algn="ctr">
                        <a:lnSpc>
                          <a:spcPts val="234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34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REVIEW DATA GOVERNANCE OR HOW DATA IS MANAGED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SYSTEM REQUIREMENTS REVIEW</a:t>
                      </a:r>
                      <a:endParaRPr lang="en-US" sz="1100"/>
                    </a:p>
                    <a:p>
                      <a:pPr algn="ctr">
                        <a:lnSpc>
                          <a:spcPts val="234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34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Analyze the current system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DATA ENVIROMENT DEVELOPMENT</a:t>
                      </a:r>
                      <a:endParaRPr lang="en-US" sz="1100"/>
                    </a:p>
                    <a:p>
                      <a:pPr algn="ctr">
                        <a:lnSpc>
                          <a:spcPts val="234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34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Design and Develop environment test and validate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MAKES </a:t>
                      </a:r>
                      <a:endParaRPr lang="en-US" sz="1100"/>
                    </a:p>
                    <a:p>
                      <a:pPr algn="ctr">
                        <a:lnSpc>
                          <a:spcPts val="3120"/>
                        </a:lnSpc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AN IMPACT</a:t>
                      </a:r>
                    </a:p>
                    <a:p>
                      <a:pPr algn="ctr">
                        <a:lnSpc>
                          <a:spcPts val="2340"/>
                        </a:lnSpc>
                      </a:pPr>
                      <a:endParaRPr lang="en-US" sz="2400" b="1" spc="36">
                        <a:solidFill>
                          <a:srgbClr val="191919"/>
                        </a:solidFill>
                        <a:latin typeface="Aileron Bold"/>
                        <a:ea typeface="Aileron Bold"/>
                        <a:cs typeface="Aileron Bold"/>
                        <a:sym typeface="Aileron Bold"/>
                      </a:endParaRPr>
                    </a:p>
                    <a:p>
                      <a:pPr algn="ctr">
                        <a:lnSpc>
                          <a:spcPts val="234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Learn, Growth and Contribute to make change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4471">
                <a:tc vMerge="1"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DATA GOVERNANCE FOUNDATION</a:t>
                      </a:r>
                      <a:endParaRPr lang="en-US" sz="1100"/>
                    </a:p>
                    <a:p>
                      <a:pPr algn="ctr">
                        <a:lnSpc>
                          <a:spcPts val="234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34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REVIEW DATA GOVERNANCE OR HOW DATA IS MANAGED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SYSTEM REQUIREMENTS REVIEW</a:t>
                      </a:r>
                      <a:endParaRPr lang="en-US" sz="1100"/>
                    </a:p>
                    <a:p>
                      <a:pPr algn="ctr">
                        <a:lnSpc>
                          <a:spcPts val="234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34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Analyze the current system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DATA ENVIROMENT DEVELOPMENT</a:t>
                      </a:r>
                      <a:endParaRPr lang="en-US" sz="1100"/>
                    </a:p>
                    <a:p>
                      <a:pPr algn="ctr">
                        <a:lnSpc>
                          <a:spcPts val="234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34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Design and Develop environment test and validate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MAKES </a:t>
                      </a:r>
                      <a:endParaRPr lang="en-US" sz="1100"/>
                    </a:p>
                    <a:p>
                      <a:pPr algn="ctr">
                        <a:lnSpc>
                          <a:spcPts val="3120"/>
                        </a:lnSpc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AN IMPACT</a:t>
                      </a:r>
                    </a:p>
                    <a:p>
                      <a:pPr algn="ctr">
                        <a:lnSpc>
                          <a:spcPts val="2340"/>
                        </a:lnSpc>
                      </a:pPr>
                      <a:endParaRPr lang="en-US" sz="2400" b="1" spc="36">
                        <a:solidFill>
                          <a:srgbClr val="191919"/>
                        </a:solidFill>
                        <a:latin typeface="Aileron Bold"/>
                        <a:ea typeface="Aileron Bold"/>
                        <a:cs typeface="Aileron Bold"/>
                        <a:sym typeface="Aileron Bold"/>
                      </a:endParaRPr>
                    </a:p>
                    <a:p>
                      <a:pPr algn="ctr">
                        <a:lnSpc>
                          <a:spcPts val="234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Learn, Growth and Contribute to make change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ED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>
            <a:off x="2097439" y="3565461"/>
            <a:ext cx="1646074" cy="1289115"/>
            <a:chOff x="0" y="0"/>
            <a:chExt cx="433534" cy="3395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3534" cy="339520"/>
            </a:xfrm>
            <a:custGeom>
              <a:avLst/>
              <a:gdLst/>
              <a:ahLst/>
              <a:cxnLst/>
              <a:rect l="l" t="t" r="r" b="b"/>
              <a:pathLst>
                <a:path w="433534" h="339520">
                  <a:moveTo>
                    <a:pt x="70549" y="0"/>
                  </a:moveTo>
                  <a:lnTo>
                    <a:pt x="362985" y="0"/>
                  </a:lnTo>
                  <a:cubicBezTo>
                    <a:pt x="381696" y="0"/>
                    <a:pt x="399640" y="7433"/>
                    <a:pt x="412870" y="20663"/>
                  </a:cubicBezTo>
                  <a:cubicBezTo>
                    <a:pt x="426101" y="33894"/>
                    <a:pt x="433534" y="51838"/>
                    <a:pt x="433534" y="70549"/>
                  </a:cubicBezTo>
                  <a:lnTo>
                    <a:pt x="433534" y="268971"/>
                  </a:lnTo>
                  <a:cubicBezTo>
                    <a:pt x="433534" y="307934"/>
                    <a:pt x="401948" y="339520"/>
                    <a:pt x="362985" y="339520"/>
                  </a:cubicBezTo>
                  <a:lnTo>
                    <a:pt x="70549" y="339520"/>
                  </a:lnTo>
                  <a:cubicBezTo>
                    <a:pt x="51838" y="339520"/>
                    <a:pt x="33894" y="332087"/>
                    <a:pt x="20663" y="318857"/>
                  </a:cubicBezTo>
                  <a:cubicBezTo>
                    <a:pt x="7433" y="305626"/>
                    <a:pt x="0" y="287682"/>
                    <a:pt x="0" y="268971"/>
                  </a:cubicBezTo>
                  <a:lnTo>
                    <a:pt x="0" y="70549"/>
                  </a:lnTo>
                  <a:cubicBezTo>
                    <a:pt x="0" y="31586"/>
                    <a:pt x="31586" y="0"/>
                    <a:pt x="70549" y="0"/>
                  </a:cubicBez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33534" cy="36809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246455" y="3565461"/>
            <a:ext cx="1646074" cy="1289115"/>
            <a:chOff x="0" y="0"/>
            <a:chExt cx="433534" cy="339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3534" cy="339520"/>
            </a:xfrm>
            <a:custGeom>
              <a:avLst/>
              <a:gdLst/>
              <a:ahLst/>
              <a:cxnLst/>
              <a:rect l="l" t="t" r="r" b="b"/>
              <a:pathLst>
                <a:path w="433534" h="339520">
                  <a:moveTo>
                    <a:pt x="70549" y="0"/>
                  </a:moveTo>
                  <a:lnTo>
                    <a:pt x="362985" y="0"/>
                  </a:lnTo>
                  <a:cubicBezTo>
                    <a:pt x="381696" y="0"/>
                    <a:pt x="399640" y="7433"/>
                    <a:pt x="412870" y="20663"/>
                  </a:cubicBezTo>
                  <a:cubicBezTo>
                    <a:pt x="426101" y="33894"/>
                    <a:pt x="433534" y="51838"/>
                    <a:pt x="433534" y="70549"/>
                  </a:cubicBezTo>
                  <a:lnTo>
                    <a:pt x="433534" y="268971"/>
                  </a:lnTo>
                  <a:cubicBezTo>
                    <a:pt x="433534" y="307934"/>
                    <a:pt x="401948" y="339520"/>
                    <a:pt x="362985" y="339520"/>
                  </a:cubicBezTo>
                  <a:lnTo>
                    <a:pt x="70549" y="339520"/>
                  </a:lnTo>
                  <a:cubicBezTo>
                    <a:pt x="51838" y="339520"/>
                    <a:pt x="33894" y="332087"/>
                    <a:pt x="20663" y="318857"/>
                  </a:cubicBezTo>
                  <a:cubicBezTo>
                    <a:pt x="7433" y="305626"/>
                    <a:pt x="0" y="287682"/>
                    <a:pt x="0" y="268971"/>
                  </a:cubicBezTo>
                  <a:lnTo>
                    <a:pt x="0" y="70549"/>
                  </a:lnTo>
                  <a:cubicBezTo>
                    <a:pt x="0" y="31586"/>
                    <a:pt x="31586" y="0"/>
                    <a:pt x="70549" y="0"/>
                  </a:cubicBezTo>
                  <a:close/>
                </a:path>
              </a:pathLst>
            </a:custGeom>
            <a:solidFill>
              <a:srgbClr val="3EDAD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33534" cy="36809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395471" y="3565461"/>
            <a:ext cx="1646074" cy="1289115"/>
            <a:chOff x="0" y="0"/>
            <a:chExt cx="433534" cy="339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3534" cy="339520"/>
            </a:xfrm>
            <a:custGeom>
              <a:avLst/>
              <a:gdLst/>
              <a:ahLst/>
              <a:cxnLst/>
              <a:rect l="l" t="t" r="r" b="b"/>
              <a:pathLst>
                <a:path w="433534" h="339520">
                  <a:moveTo>
                    <a:pt x="70549" y="0"/>
                  </a:moveTo>
                  <a:lnTo>
                    <a:pt x="362985" y="0"/>
                  </a:lnTo>
                  <a:cubicBezTo>
                    <a:pt x="381696" y="0"/>
                    <a:pt x="399640" y="7433"/>
                    <a:pt x="412870" y="20663"/>
                  </a:cubicBezTo>
                  <a:cubicBezTo>
                    <a:pt x="426101" y="33894"/>
                    <a:pt x="433534" y="51838"/>
                    <a:pt x="433534" y="70549"/>
                  </a:cubicBezTo>
                  <a:lnTo>
                    <a:pt x="433534" y="268971"/>
                  </a:lnTo>
                  <a:cubicBezTo>
                    <a:pt x="433534" y="307934"/>
                    <a:pt x="401948" y="339520"/>
                    <a:pt x="362985" y="339520"/>
                  </a:cubicBezTo>
                  <a:lnTo>
                    <a:pt x="70549" y="339520"/>
                  </a:lnTo>
                  <a:cubicBezTo>
                    <a:pt x="51838" y="339520"/>
                    <a:pt x="33894" y="332087"/>
                    <a:pt x="20663" y="318857"/>
                  </a:cubicBezTo>
                  <a:cubicBezTo>
                    <a:pt x="7433" y="305626"/>
                    <a:pt x="0" y="287682"/>
                    <a:pt x="0" y="268971"/>
                  </a:cubicBezTo>
                  <a:lnTo>
                    <a:pt x="0" y="70549"/>
                  </a:lnTo>
                  <a:cubicBezTo>
                    <a:pt x="0" y="31586"/>
                    <a:pt x="31586" y="0"/>
                    <a:pt x="70549" y="0"/>
                  </a:cubicBezTo>
                  <a:close/>
                </a:path>
              </a:pathLst>
            </a:custGeom>
            <a:solidFill>
              <a:srgbClr val="37C9E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33534" cy="36809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544487" y="3565461"/>
            <a:ext cx="1646074" cy="1289115"/>
            <a:chOff x="0" y="0"/>
            <a:chExt cx="433534" cy="339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3534" cy="339520"/>
            </a:xfrm>
            <a:custGeom>
              <a:avLst/>
              <a:gdLst/>
              <a:ahLst/>
              <a:cxnLst/>
              <a:rect l="l" t="t" r="r" b="b"/>
              <a:pathLst>
                <a:path w="433534" h="339520">
                  <a:moveTo>
                    <a:pt x="70549" y="0"/>
                  </a:moveTo>
                  <a:lnTo>
                    <a:pt x="362985" y="0"/>
                  </a:lnTo>
                  <a:cubicBezTo>
                    <a:pt x="381696" y="0"/>
                    <a:pt x="399640" y="7433"/>
                    <a:pt x="412870" y="20663"/>
                  </a:cubicBezTo>
                  <a:cubicBezTo>
                    <a:pt x="426101" y="33894"/>
                    <a:pt x="433534" y="51838"/>
                    <a:pt x="433534" y="70549"/>
                  </a:cubicBezTo>
                  <a:lnTo>
                    <a:pt x="433534" y="268971"/>
                  </a:lnTo>
                  <a:cubicBezTo>
                    <a:pt x="433534" y="307934"/>
                    <a:pt x="401948" y="339520"/>
                    <a:pt x="362985" y="339520"/>
                  </a:cubicBezTo>
                  <a:lnTo>
                    <a:pt x="70549" y="339520"/>
                  </a:lnTo>
                  <a:cubicBezTo>
                    <a:pt x="51838" y="339520"/>
                    <a:pt x="33894" y="332087"/>
                    <a:pt x="20663" y="318857"/>
                  </a:cubicBezTo>
                  <a:cubicBezTo>
                    <a:pt x="7433" y="305626"/>
                    <a:pt x="0" y="287682"/>
                    <a:pt x="0" y="268971"/>
                  </a:cubicBezTo>
                  <a:lnTo>
                    <a:pt x="0" y="70549"/>
                  </a:lnTo>
                  <a:cubicBezTo>
                    <a:pt x="0" y="31586"/>
                    <a:pt x="31586" y="0"/>
                    <a:pt x="70549" y="0"/>
                  </a:cubicBezTo>
                  <a:close/>
                </a:path>
              </a:pathLst>
            </a:custGeom>
            <a:solidFill>
              <a:srgbClr val="1C88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433534" cy="36809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5072502" y="3914997"/>
            <a:ext cx="590043" cy="590043"/>
          </a:xfrm>
          <a:custGeom>
            <a:avLst/>
            <a:gdLst/>
            <a:ahLst/>
            <a:cxnLst/>
            <a:rect l="l" t="t" r="r" b="b"/>
            <a:pathLst>
              <a:path w="590043" h="590043">
                <a:moveTo>
                  <a:pt x="0" y="0"/>
                </a:moveTo>
                <a:lnTo>
                  <a:pt x="590043" y="0"/>
                </a:lnTo>
                <a:lnTo>
                  <a:pt x="590043" y="590043"/>
                </a:lnTo>
                <a:lnTo>
                  <a:pt x="0" y="59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2547278" y="3889535"/>
            <a:ext cx="746396" cy="640968"/>
          </a:xfrm>
          <a:custGeom>
            <a:avLst/>
            <a:gdLst/>
            <a:ahLst/>
            <a:cxnLst/>
            <a:rect l="l" t="t" r="r" b="b"/>
            <a:pathLst>
              <a:path w="746396" h="640968">
                <a:moveTo>
                  <a:pt x="0" y="0"/>
                </a:moveTo>
                <a:lnTo>
                  <a:pt x="746396" y="0"/>
                </a:lnTo>
                <a:lnTo>
                  <a:pt x="746396" y="640967"/>
                </a:lnTo>
                <a:lnTo>
                  <a:pt x="0" y="640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-2848588">
            <a:off x="10971701" y="3949971"/>
            <a:ext cx="520095" cy="520095"/>
          </a:xfrm>
          <a:custGeom>
            <a:avLst/>
            <a:gdLst/>
            <a:ahLst/>
            <a:cxnLst/>
            <a:rect l="l" t="t" r="r" b="b"/>
            <a:pathLst>
              <a:path w="520095" h="520095">
                <a:moveTo>
                  <a:pt x="0" y="0"/>
                </a:moveTo>
                <a:lnTo>
                  <a:pt x="520095" y="0"/>
                </a:lnTo>
                <a:lnTo>
                  <a:pt x="520095" y="520095"/>
                </a:lnTo>
                <a:lnTo>
                  <a:pt x="0" y="5200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6714833" y="3872127"/>
            <a:ext cx="709319" cy="675784"/>
            <a:chOff x="0" y="0"/>
            <a:chExt cx="1772920" cy="1689100"/>
          </a:xfrm>
        </p:grpSpPr>
        <p:sp>
          <p:nvSpPr>
            <p:cNvPr id="22" name="Freeform 22"/>
            <p:cNvSpPr/>
            <p:nvPr/>
          </p:nvSpPr>
          <p:spPr>
            <a:xfrm>
              <a:off x="-8890" y="-5080"/>
              <a:ext cx="1789430" cy="1701800"/>
            </a:xfrm>
            <a:custGeom>
              <a:avLst/>
              <a:gdLst/>
              <a:ahLst/>
              <a:cxnLst/>
              <a:rect l="l" t="t" r="r" b="b"/>
              <a:pathLst>
                <a:path w="1789430" h="1701800">
                  <a:moveTo>
                    <a:pt x="922020" y="21590"/>
                  </a:moveTo>
                  <a:lnTo>
                    <a:pt x="1172210" y="529590"/>
                  </a:lnTo>
                  <a:cubicBezTo>
                    <a:pt x="1176020" y="538480"/>
                    <a:pt x="1184910" y="544830"/>
                    <a:pt x="1195070" y="546100"/>
                  </a:cubicBezTo>
                  <a:lnTo>
                    <a:pt x="1755140" y="627380"/>
                  </a:lnTo>
                  <a:cubicBezTo>
                    <a:pt x="1779270" y="631190"/>
                    <a:pt x="1789430" y="661670"/>
                    <a:pt x="1771650" y="678180"/>
                  </a:cubicBezTo>
                  <a:lnTo>
                    <a:pt x="1366520" y="1073150"/>
                  </a:lnTo>
                  <a:cubicBezTo>
                    <a:pt x="1358900" y="1079500"/>
                    <a:pt x="1356360" y="1089660"/>
                    <a:pt x="1357630" y="1099820"/>
                  </a:cubicBezTo>
                  <a:lnTo>
                    <a:pt x="1452880" y="1658620"/>
                  </a:lnTo>
                  <a:cubicBezTo>
                    <a:pt x="1456690" y="1682750"/>
                    <a:pt x="1431290" y="1701800"/>
                    <a:pt x="1409700" y="1690370"/>
                  </a:cubicBezTo>
                  <a:lnTo>
                    <a:pt x="908050" y="1426210"/>
                  </a:lnTo>
                  <a:cubicBezTo>
                    <a:pt x="899160" y="1421130"/>
                    <a:pt x="889000" y="1421130"/>
                    <a:pt x="880110" y="1426210"/>
                  </a:cubicBezTo>
                  <a:lnTo>
                    <a:pt x="378460" y="1690370"/>
                  </a:lnTo>
                  <a:cubicBezTo>
                    <a:pt x="356870" y="1701800"/>
                    <a:pt x="331470" y="1682750"/>
                    <a:pt x="335280" y="1658620"/>
                  </a:cubicBezTo>
                  <a:lnTo>
                    <a:pt x="430530" y="1099820"/>
                  </a:lnTo>
                  <a:cubicBezTo>
                    <a:pt x="431800" y="1089660"/>
                    <a:pt x="429260" y="1080770"/>
                    <a:pt x="421640" y="1073150"/>
                  </a:cubicBezTo>
                  <a:lnTo>
                    <a:pt x="17780" y="678180"/>
                  </a:lnTo>
                  <a:cubicBezTo>
                    <a:pt x="0" y="660400"/>
                    <a:pt x="10160" y="631190"/>
                    <a:pt x="34290" y="627380"/>
                  </a:cubicBezTo>
                  <a:lnTo>
                    <a:pt x="594360" y="546100"/>
                  </a:lnTo>
                  <a:cubicBezTo>
                    <a:pt x="604520" y="544830"/>
                    <a:pt x="612140" y="538480"/>
                    <a:pt x="617220" y="529590"/>
                  </a:cubicBezTo>
                  <a:lnTo>
                    <a:pt x="867410" y="21590"/>
                  </a:lnTo>
                  <a:cubicBezTo>
                    <a:pt x="878840" y="0"/>
                    <a:pt x="910590" y="0"/>
                    <a:pt x="922020" y="2159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0" y="-23536"/>
          <a:ext cx="18288000" cy="10310536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3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2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310536"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sz="2400" b="1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Nov 17 - Dec 5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Data Governance and System Requirements Review</a:t>
                      </a:r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Dec 8 - Dec 24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Development of Data Storage and Analysis Environment</a:t>
                      </a:r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Jan 1 - 15, 2026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Public Survey Data Analysis 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800" spc="26">
                        <a:solidFill>
                          <a:srgbClr val="191919"/>
                        </a:solidFill>
                        <a:latin typeface="Aileron"/>
                        <a:ea typeface="Aileron"/>
                        <a:cs typeface="Aileron"/>
                        <a:sym typeface="Aileron"/>
                      </a:endParaRPr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sz="2400" b="1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Jan 16 - 30, 2026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Power BI Dashboard Development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800" spc="26">
                        <a:solidFill>
                          <a:srgbClr val="191919"/>
                        </a:solidFill>
                        <a:latin typeface="Aileron"/>
                        <a:ea typeface="Aileron"/>
                        <a:cs typeface="Aileron"/>
                        <a:sym typeface="Aileron"/>
                      </a:endParaRPr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599"/>
                        </a:lnSpc>
                      </a:pPr>
                      <a:r>
                        <a:rPr lang="en-US" sz="2399" b="1" spc="35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Jan 16 - 30, 2026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Review of 2026 Budgetary KPIs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800" spc="26">
                        <a:solidFill>
                          <a:srgbClr val="191919"/>
                        </a:solidFill>
                        <a:latin typeface="Aileron"/>
                        <a:ea typeface="Aileron"/>
                        <a:cs typeface="Aileron"/>
                        <a:sym typeface="Aileron"/>
                      </a:endParaRPr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599"/>
                        </a:lnSpc>
                      </a:pPr>
                      <a:r>
                        <a:rPr lang="en-US" sz="2399" b="1" spc="35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Jan 30, 2026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Project Review and Finalization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endParaRPr lang="en-US" sz="1800" spc="26">
                        <a:solidFill>
                          <a:srgbClr val="191919"/>
                        </a:solidFill>
                        <a:latin typeface="Aileron"/>
                        <a:ea typeface="Aileron"/>
                        <a:cs typeface="Aileron"/>
                        <a:sym typeface="Aileron"/>
                      </a:endParaRPr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 rot="-829633">
            <a:off x="101452" y="8486967"/>
            <a:ext cx="20724935" cy="5634207"/>
            <a:chOff x="0" y="0"/>
            <a:chExt cx="5458419" cy="14839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58419" cy="1483907"/>
            </a:xfrm>
            <a:custGeom>
              <a:avLst/>
              <a:gdLst/>
              <a:ahLst/>
              <a:cxnLst/>
              <a:rect l="l" t="t" r="r" b="b"/>
              <a:pathLst>
                <a:path w="5458419" h="1483907">
                  <a:moveTo>
                    <a:pt x="0" y="0"/>
                  </a:moveTo>
                  <a:lnTo>
                    <a:pt x="5458419" y="0"/>
                  </a:lnTo>
                  <a:lnTo>
                    <a:pt x="5458419" y="1483907"/>
                  </a:lnTo>
                  <a:lnTo>
                    <a:pt x="0" y="14839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458419" cy="1522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829633">
            <a:off x="-2015856" y="-2222871"/>
            <a:ext cx="20724935" cy="5634207"/>
            <a:chOff x="0" y="0"/>
            <a:chExt cx="5458419" cy="14839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58419" cy="1483907"/>
            </a:xfrm>
            <a:custGeom>
              <a:avLst/>
              <a:gdLst/>
              <a:ahLst/>
              <a:cxnLst/>
              <a:rect l="l" t="t" r="r" b="b"/>
              <a:pathLst>
                <a:path w="5458419" h="1483907">
                  <a:moveTo>
                    <a:pt x="0" y="0"/>
                  </a:moveTo>
                  <a:lnTo>
                    <a:pt x="5458419" y="0"/>
                  </a:lnTo>
                  <a:lnTo>
                    <a:pt x="5458419" y="1483907"/>
                  </a:lnTo>
                  <a:lnTo>
                    <a:pt x="0" y="14839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458419" cy="1522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563791"/>
            <a:ext cx="946844" cy="946844"/>
            <a:chOff x="0" y="0"/>
            <a:chExt cx="556826" cy="5568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5400000">
            <a:off x="1106063" y="5882882"/>
            <a:ext cx="792119" cy="47625"/>
          </a:xfrm>
          <a:prstGeom prst="line">
            <a:avLst/>
          </a:prstGeom>
          <a:ln w="47625" cap="flat">
            <a:solidFill>
              <a:srgbClr val="86EAE9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6293406" y="884521"/>
            <a:ext cx="946844" cy="946844"/>
            <a:chOff x="0" y="0"/>
            <a:chExt cx="556826" cy="5568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6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rot="5400000">
            <a:off x="16398901" y="2175480"/>
            <a:ext cx="735854" cy="47625"/>
          </a:xfrm>
          <a:prstGeom prst="line">
            <a:avLst/>
          </a:prstGeom>
          <a:ln w="47625" cap="flat">
            <a:solidFill>
              <a:srgbClr val="13538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3240464" y="1620375"/>
            <a:ext cx="946844" cy="946844"/>
            <a:chOff x="0" y="0"/>
            <a:chExt cx="556826" cy="5568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1C88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rot="5400000">
            <a:off x="13345960" y="2911334"/>
            <a:ext cx="735854" cy="47625"/>
          </a:xfrm>
          <a:prstGeom prst="line">
            <a:avLst/>
          </a:prstGeom>
          <a:ln w="47625" cap="flat">
            <a:solidFill>
              <a:srgbClr val="1C88CF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0187523" y="2356229"/>
            <a:ext cx="946844" cy="946844"/>
            <a:chOff x="0" y="0"/>
            <a:chExt cx="556826" cy="55682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18AF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4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rot="5400000">
            <a:off x="10293019" y="3647188"/>
            <a:ext cx="735854" cy="47625"/>
          </a:xfrm>
          <a:prstGeom prst="line">
            <a:avLst/>
          </a:prstGeom>
          <a:ln w="47625" cap="flat">
            <a:solidFill>
              <a:srgbClr val="18AFD6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7134582" y="3092083"/>
            <a:ext cx="946844" cy="946844"/>
            <a:chOff x="0" y="0"/>
            <a:chExt cx="556826" cy="55682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37C9E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 rot="5400000">
            <a:off x="7240077" y="4383042"/>
            <a:ext cx="735854" cy="47625"/>
          </a:xfrm>
          <a:prstGeom prst="line">
            <a:avLst/>
          </a:prstGeom>
          <a:ln w="47625" cap="flat">
            <a:solidFill>
              <a:srgbClr val="37C9EF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4081641" y="3827937"/>
            <a:ext cx="946844" cy="946844"/>
            <a:chOff x="0" y="0"/>
            <a:chExt cx="556826" cy="55682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3EDAD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 rot="5400000">
            <a:off x="4187136" y="5118895"/>
            <a:ext cx="735854" cy="47625"/>
          </a:xfrm>
          <a:prstGeom prst="line">
            <a:avLst/>
          </a:prstGeom>
          <a:ln w="47625" cap="flat">
            <a:solidFill>
              <a:srgbClr val="3EDAD8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050383" y="995919"/>
            <a:ext cx="12663503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107">
                <a:solidFill>
                  <a:srgbClr val="19191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PROJECT TIMELINE &amp; KEY DELIVERABLES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95399" y="4002480"/>
            <a:ext cx="3086100" cy="1543050"/>
            <a:chOff x="0" y="0"/>
            <a:chExt cx="8128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37630" y="0"/>
                  </a:moveTo>
                  <a:lnTo>
                    <a:pt x="775170" y="0"/>
                  </a:lnTo>
                  <a:cubicBezTo>
                    <a:pt x="785150" y="0"/>
                    <a:pt x="794722" y="3965"/>
                    <a:pt x="801779" y="11021"/>
                  </a:cubicBezTo>
                  <a:cubicBezTo>
                    <a:pt x="808835" y="18078"/>
                    <a:pt x="812800" y="27650"/>
                    <a:pt x="812800" y="37630"/>
                  </a:cubicBezTo>
                  <a:lnTo>
                    <a:pt x="812800" y="368770"/>
                  </a:lnTo>
                  <a:cubicBezTo>
                    <a:pt x="812800" y="378750"/>
                    <a:pt x="808835" y="388322"/>
                    <a:pt x="801779" y="395379"/>
                  </a:cubicBezTo>
                  <a:cubicBezTo>
                    <a:pt x="794722" y="402435"/>
                    <a:pt x="785150" y="406400"/>
                    <a:pt x="775170" y="406400"/>
                  </a:cubicBezTo>
                  <a:lnTo>
                    <a:pt x="37630" y="406400"/>
                  </a:lnTo>
                  <a:cubicBezTo>
                    <a:pt x="27650" y="406400"/>
                    <a:pt x="18078" y="402435"/>
                    <a:pt x="11021" y="395379"/>
                  </a:cubicBezTo>
                  <a:cubicBezTo>
                    <a:pt x="3965" y="388322"/>
                    <a:pt x="0" y="378750"/>
                    <a:pt x="0" y="368770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1C88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45402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Stage 1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10681499" y="4774005"/>
            <a:ext cx="2003664" cy="1511419"/>
          </a:xfrm>
          <a:prstGeom prst="line">
            <a:avLst/>
          </a:prstGeom>
          <a:ln w="47625" cap="flat">
            <a:solidFill>
              <a:srgbClr val="EDF0F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9138449" y="3052344"/>
            <a:ext cx="19048" cy="950136"/>
          </a:xfrm>
          <a:prstGeom prst="line">
            <a:avLst/>
          </a:prstGeom>
          <a:ln w="47625" cap="flat">
            <a:solidFill>
              <a:srgbClr val="EDF0F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9138449" y="5545530"/>
            <a:ext cx="5551" cy="1150545"/>
          </a:xfrm>
          <a:prstGeom prst="line">
            <a:avLst/>
          </a:prstGeom>
          <a:ln w="47625" cap="flat">
            <a:solidFill>
              <a:srgbClr val="EDF0F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 flipV="1">
            <a:off x="5731523" y="3994823"/>
            <a:ext cx="1863876" cy="779183"/>
          </a:xfrm>
          <a:prstGeom prst="line">
            <a:avLst/>
          </a:prstGeom>
          <a:ln w="47625" cap="flat">
            <a:solidFill>
              <a:srgbClr val="EDF0F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2485873" y="2967990"/>
            <a:ext cx="3245650" cy="2053666"/>
            <a:chOff x="0" y="0"/>
            <a:chExt cx="854821" cy="5408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4821" cy="540883"/>
            </a:xfrm>
            <a:custGeom>
              <a:avLst/>
              <a:gdLst/>
              <a:ahLst/>
              <a:cxnLst/>
              <a:rect l="l" t="t" r="r" b="b"/>
              <a:pathLst>
                <a:path w="854821" h="540883">
                  <a:moveTo>
                    <a:pt x="35780" y="0"/>
                  </a:moveTo>
                  <a:lnTo>
                    <a:pt x="819042" y="0"/>
                  </a:lnTo>
                  <a:cubicBezTo>
                    <a:pt x="828531" y="0"/>
                    <a:pt x="837632" y="3770"/>
                    <a:pt x="844342" y="10480"/>
                  </a:cubicBezTo>
                  <a:cubicBezTo>
                    <a:pt x="851052" y="17190"/>
                    <a:pt x="854821" y="26290"/>
                    <a:pt x="854821" y="35780"/>
                  </a:cubicBezTo>
                  <a:lnTo>
                    <a:pt x="854821" y="505103"/>
                  </a:lnTo>
                  <a:cubicBezTo>
                    <a:pt x="854821" y="524864"/>
                    <a:pt x="838802" y="540883"/>
                    <a:pt x="819042" y="540883"/>
                  </a:cubicBezTo>
                  <a:lnTo>
                    <a:pt x="35780" y="540883"/>
                  </a:lnTo>
                  <a:cubicBezTo>
                    <a:pt x="26290" y="540883"/>
                    <a:pt x="17190" y="537113"/>
                    <a:pt x="10480" y="530403"/>
                  </a:cubicBezTo>
                  <a:cubicBezTo>
                    <a:pt x="3770" y="523693"/>
                    <a:pt x="0" y="514593"/>
                    <a:pt x="0" y="505103"/>
                  </a:cubicBezTo>
                  <a:lnTo>
                    <a:pt x="0" y="35780"/>
                  </a:lnTo>
                  <a:cubicBezTo>
                    <a:pt x="0" y="16019"/>
                    <a:pt x="16019" y="0"/>
                    <a:pt x="35780" y="0"/>
                  </a:cubicBezTo>
                  <a:close/>
                </a:path>
              </a:pathLst>
            </a:custGeom>
            <a:solidFill>
              <a:srgbClr val="37C9E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54821" cy="57898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Week of Nov 11</a:t>
              </a:r>
              <a:r>
                <a:rPr lang="en-US" sz="15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: 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Background checks &amp; fingerprinting for team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909722" y="2118894"/>
            <a:ext cx="2495550" cy="933450"/>
            <a:chOff x="0" y="0"/>
            <a:chExt cx="657264" cy="2458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57264" cy="245847"/>
            </a:xfrm>
            <a:custGeom>
              <a:avLst/>
              <a:gdLst/>
              <a:ahLst/>
              <a:cxnLst/>
              <a:rect l="l" t="t" r="r" b="b"/>
              <a:pathLst>
                <a:path w="657264" h="245847">
                  <a:moveTo>
                    <a:pt x="46534" y="0"/>
                  </a:moveTo>
                  <a:lnTo>
                    <a:pt x="610730" y="0"/>
                  </a:lnTo>
                  <a:cubicBezTo>
                    <a:pt x="636430" y="0"/>
                    <a:pt x="657264" y="20834"/>
                    <a:pt x="657264" y="46534"/>
                  </a:cubicBezTo>
                  <a:lnTo>
                    <a:pt x="657264" y="199313"/>
                  </a:lnTo>
                  <a:cubicBezTo>
                    <a:pt x="657264" y="211654"/>
                    <a:pt x="652361" y="223490"/>
                    <a:pt x="643635" y="232217"/>
                  </a:cubicBezTo>
                  <a:cubicBezTo>
                    <a:pt x="634908" y="240944"/>
                    <a:pt x="623072" y="245847"/>
                    <a:pt x="610730" y="245847"/>
                  </a:cubicBezTo>
                  <a:lnTo>
                    <a:pt x="46534" y="245847"/>
                  </a:lnTo>
                  <a:cubicBezTo>
                    <a:pt x="20834" y="245847"/>
                    <a:pt x="0" y="225013"/>
                    <a:pt x="0" y="199313"/>
                  </a:cubicBezTo>
                  <a:lnTo>
                    <a:pt x="0" y="46534"/>
                  </a:lnTo>
                  <a:cubicBezTo>
                    <a:pt x="0" y="20834"/>
                    <a:pt x="20834" y="0"/>
                    <a:pt x="46534" y="0"/>
                  </a:cubicBezTo>
                  <a:close/>
                </a:path>
              </a:pathLst>
            </a:custGeom>
            <a:solidFill>
              <a:srgbClr val="37C9E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57264" cy="28394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Data Governance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896225" y="6696075"/>
            <a:ext cx="2495550" cy="933450"/>
            <a:chOff x="0" y="0"/>
            <a:chExt cx="657264" cy="2458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57264" cy="245847"/>
            </a:xfrm>
            <a:custGeom>
              <a:avLst/>
              <a:gdLst/>
              <a:ahLst/>
              <a:cxnLst/>
              <a:rect l="l" t="t" r="r" b="b"/>
              <a:pathLst>
                <a:path w="657264" h="245847">
                  <a:moveTo>
                    <a:pt x="46534" y="0"/>
                  </a:moveTo>
                  <a:lnTo>
                    <a:pt x="610730" y="0"/>
                  </a:lnTo>
                  <a:cubicBezTo>
                    <a:pt x="636430" y="0"/>
                    <a:pt x="657264" y="20834"/>
                    <a:pt x="657264" y="46534"/>
                  </a:cubicBezTo>
                  <a:lnTo>
                    <a:pt x="657264" y="199313"/>
                  </a:lnTo>
                  <a:cubicBezTo>
                    <a:pt x="657264" y="211654"/>
                    <a:pt x="652361" y="223490"/>
                    <a:pt x="643635" y="232217"/>
                  </a:cubicBezTo>
                  <a:cubicBezTo>
                    <a:pt x="634908" y="240944"/>
                    <a:pt x="623072" y="245847"/>
                    <a:pt x="610730" y="245847"/>
                  </a:cubicBezTo>
                  <a:lnTo>
                    <a:pt x="46534" y="245847"/>
                  </a:lnTo>
                  <a:cubicBezTo>
                    <a:pt x="20834" y="245847"/>
                    <a:pt x="0" y="225013"/>
                    <a:pt x="0" y="199313"/>
                  </a:cubicBezTo>
                  <a:lnTo>
                    <a:pt x="0" y="46534"/>
                  </a:lnTo>
                  <a:cubicBezTo>
                    <a:pt x="0" y="20834"/>
                    <a:pt x="20834" y="0"/>
                    <a:pt x="46534" y="0"/>
                  </a:cubicBezTo>
                  <a:close/>
                </a:path>
              </a:pathLst>
            </a:custGeom>
            <a:solidFill>
              <a:srgbClr val="37C9E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57264" cy="28394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System Requirements Review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685163" y="5097855"/>
            <a:ext cx="4011059" cy="2375137"/>
            <a:chOff x="0" y="0"/>
            <a:chExt cx="1056411" cy="62555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6411" cy="625551"/>
            </a:xfrm>
            <a:custGeom>
              <a:avLst/>
              <a:gdLst/>
              <a:ahLst/>
              <a:cxnLst/>
              <a:rect l="l" t="t" r="r" b="b"/>
              <a:pathLst>
                <a:path w="1056411" h="625551">
                  <a:moveTo>
                    <a:pt x="28952" y="0"/>
                  </a:moveTo>
                  <a:lnTo>
                    <a:pt x="1027458" y="0"/>
                  </a:lnTo>
                  <a:cubicBezTo>
                    <a:pt x="1043448" y="0"/>
                    <a:pt x="1056411" y="12962"/>
                    <a:pt x="1056411" y="28952"/>
                  </a:cubicBezTo>
                  <a:lnTo>
                    <a:pt x="1056411" y="596598"/>
                  </a:lnTo>
                  <a:cubicBezTo>
                    <a:pt x="1056411" y="612588"/>
                    <a:pt x="1043448" y="625551"/>
                    <a:pt x="1027458" y="625551"/>
                  </a:cubicBezTo>
                  <a:lnTo>
                    <a:pt x="28952" y="625551"/>
                  </a:lnTo>
                  <a:cubicBezTo>
                    <a:pt x="21274" y="625551"/>
                    <a:pt x="13909" y="622500"/>
                    <a:pt x="8480" y="617071"/>
                  </a:cubicBezTo>
                  <a:cubicBezTo>
                    <a:pt x="3050" y="611641"/>
                    <a:pt x="0" y="604277"/>
                    <a:pt x="0" y="596598"/>
                  </a:cubicBezTo>
                  <a:lnTo>
                    <a:pt x="0" y="28952"/>
                  </a:lnTo>
                  <a:cubicBezTo>
                    <a:pt x="0" y="12962"/>
                    <a:pt x="12962" y="0"/>
                    <a:pt x="28952" y="0"/>
                  </a:cubicBezTo>
                  <a:close/>
                </a:path>
              </a:pathLst>
            </a:custGeom>
            <a:solidFill>
              <a:srgbClr val="37C9E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56411" cy="66365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By End of November</a:t>
              </a:r>
              <a:r>
                <a:rPr lang="en-US" sz="15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: 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Get familiar with all the Technical Concepts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29212" y="2731877"/>
            <a:ext cx="2495550" cy="933450"/>
            <a:chOff x="0" y="0"/>
            <a:chExt cx="657264" cy="2458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57264" cy="245847"/>
            </a:xfrm>
            <a:custGeom>
              <a:avLst/>
              <a:gdLst/>
              <a:ahLst/>
              <a:cxnLst/>
              <a:rect l="l" t="t" r="r" b="b"/>
              <a:pathLst>
                <a:path w="657264" h="245847">
                  <a:moveTo>
                    <a:pt x="46534" y="0"/>
                  </a:moveTo>
                  <a:lnTo>
                    <a:pt x="610730" y="0"/>
                  </a:lnTo>
                  <a:cubicBezTo>
                    <a:pt x="636430" y="0"/>
                    <a:pt x="657264" y="20834"/>
                    <a:pt x="657264" y="46534"/>
                  </a:cubicBezTo>
                  <a:lnTo>
                    <a:pt x="657264" y="199313"/>
                  </a:lnTo>
                  <a:cubicBezTo>
                    <a:pt x="657264" y="211654"/>
                    <a:pt x="652361" y="223490"/>
                    <a:pt x="643635" y="232217"/>
                  </a:cubicBezTo>
                  <a:cubicBezTo>
                    <a:pt x="634908" y="240944"/>
                    <a:pt x="623072" y="245847"/>
                    <a:pt x="610730" y="245847"/>
                  </a:cubicBezTo>
                  <a:lnTo>
                    <a:pt x="46534" y="245847"/>
                  </a:lnTo>
                  <a:cubicBezTo>
                    <a:pt x="20834" y="245847"/>
                    <a:pt x="0" y="225013"/>
                    <a:pt x="0" y="199313"/>
                  </a:cubicBezTo>
                  <a:lnTo>
                    <a:pt x="0" y="46534"/>
                  </a:lnTo>
                  <a:cubicBezTo>
                    <a:pt x="0" y="20834"/>
                    <a:pt x="20834" y="0"/>
                    <a:pt x="46534" y="0"/>
                  </a:cubicBezTo>
                  <a:close/>
                </a:path>
              </a:pathLst>
            </a:custGeom>
            <a:solidFill>
              <a:srgbClr val="3EDAD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57264" cy="28394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Research on industry standards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0405272" y="2585619"/>
            <a:ext cx="1023940" cy="612982"/>
          </a:xfrm>
          <a:prstGeom prst="line">
            <a:avLst/>
          </a:prstGeom>
          <a:ln w="47625" cap="flat">
            <a:solidFill>
              <a:srgbClr val="EDF0F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1437388" y="489181"/>
            <a:ext cx="2495550" cy="1447800"/>
            <a:chOff x="0" y="0"/>
            <a:chExt cx="657264" cy="38131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57264" cy="381314"/>
            </a:xfrm>
            <a:custGeom>
              <a:avLst/>
              <a:gdLst/>
              <a:ahLst/>
              <a:cxnLst/>
              <a:rect l="l" t="t" r="r" b="b"/>
              <a:pathLst>
                <a:path w="657264" h="381314">
                  <a:moveTo>
                    <a:pt x="46534" y="0"/>
                  </a:moveTo>
                  <a:lnTo>
                    <a:pt x="610730" y="0"/>
                  </a:lnTo>
                  <a:cubicBezTo>
                    <a:pt x="636430" y="0"/>
                    <a:pt x="657264" y="20834"/>
                    <a:pt x="657264" y="46534"/>
                  </a:cubicBezTo>
                  <a:lnTo>
                    <a:pt x="657264" y="334779"/>
                  </a:lnTo>
                  <a:cubicBezTo>
                    <a:pt x="657264" y="360479"/>
                    <a:pt x="636430" y="381314"/>
                    <a:pt x="610730" y="381314"/>
                  </a:cubicBezTo>
                  <a:lnTo>
                    <a:pt x="46534" y="381314"/>
                  </a:lnTo>
                  <a:cubicBezTo>
                    <a:pt x="20834" y="381314"/>
                    <a:pt x="0" y="360479"/>
                    <a:pt x="0" y="334779"/>
                  </a:cubicBezTo>
                  <a:lnTo>
                    <a:pt x="0" y="46534"/>
                  </a:lnTo>
                  <a:cubicBezTo>
                    <a:pt x="0" y="20834"/>
                    <a:pt x="20834" y="0"/>
                    <a:pt x="46534" y="0"/>
                  </a:cubicBezTo>
                  <a:close/>
                </a:path>
              </a:pathLst>
            </a:custGeom>
            <a:solidFill>
              <a:srgbClr val="3EDAD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57264" cy="41941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Conduct a comprehensive review of the CoW’s Data Governance framework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 flipV="1">
            <a:off x="10405272" y="1213081"/>
            <a:ext cx="1032116" cy="1372539"/>
          </a:xfrm>
          <a:prstGeom prst="line">
            <a:avLst/>
          </a:prstGeom>
          <a:ln w="47625" cap="flat">
            <a:solidFill>
              <a:srgbClr val="EDF0F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>
            <a:off x="13924762" y="3198602"/>
            <a:ext cx="1183517" cy="641954"/>
          </a:xfrm>
          <a:prstGeom prst="line">
            <a:avLst/>
          </a:prstGeom>
          <a:ln w="47625" cap="flat">
            <a:solidFill>
              <a:srgbClr val="EDF0F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 flipV="1">
            <a:off x="13924762" y="2265152"/>
            <a:ext cx="1183517" cy="933450"/>
          </a:xfrm>
          <a:prstGeom prst="line">
            <a:avLst/>
          </a:prstGeom>
          <a:ln w="47625" cap="flat">
            <a:solidFill>
              <a:srgbClr val="EDF0F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15108278" y="3373830"/>
            <a:ext cx="1866900" cy="933450"/>
            <a:chOff x="0" y="0"/>
            <a:chExt cx="491694" cy="24584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91694" cy="245847"/>
            </a:xfrm>
            <a:custGeom>
              <a:avLst/>
              <a:gdLst/>
              <a:ahLst/>
              <a:cxnLst/>
              <a:rect l="l" t="t" r="r" b="b"/>
              <a:pathLst>
                <a:path w="491694" h="245847">
                  <a:moveTo>
                    <a:pt x="62204" y="0"/>
                  </a:moveTo>
                  <a:lnTo>
                    <a:pt x="429490" y="0"/>
                  </a:lnTo>
                  <a:cubicBezTo>
                    <a:pt x="463844" y="0"/>
                    <a:pt x="491694" y="27850"/>
                    <a:pt x="491694" y="62204"/>
                  </a:cubicBezTo>
                  <a:lnTo>
                    <a:pt x="491694" y="183643"/>
                  </a:lnTo>
                  <a:cubicBezTo>
                    <a:pt x="491694" y="200140"/>
                    <a:pt x="485140" y="215962"/>
                    <a:pt x="473475" y="227628"/>
                  </a:cubicBezTo>
                  <a:cubicBezTo>
                    <a:pt x="461809" y="239293"/>
                    <a:pt x="445987" y="245847"/>
                    <a:pt x="429490" y="245847"/>
                  </a:cubicBezTo>
                  <a:lnTo>
                    <a:pt x="62204" y="245847"/>
                  </a:lnTo>
                  <a:cubicBezTo>
                    <a:pt x="45707" y="245847"/>
                    <a:pt x="29885" y="239293"/>
                    <a:pt x="18219" y="227628"/>
                  </a:cubicBezTo>
                  <a:cubicBezTo>
                    <a:pt x="6554" y="215962"/>
                    <a:pt x="0" y="200140"/>
                    <a:pt x="0" y="183643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491694" cy="28394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Add even more sub-ideas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108278" y="1798427"/>
            <a:ext cx="1866900" cy="933450"/>
            <a:chOff x="0" y="0"/>
            <a:chExt cx="491694" cy="24584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91694" cy="245847"/>
            </a:xfrm>
            <a:custGeom>
              <a:avLst/>
              <a:gdLst/>
              <a:ahLst/>
              <a:cxnLst/>
              <a:rect l="l" t="t" r="r" b="b"/>
              <a:pathLst>
                <a:path w="491694" h="245847">
                  <a:moveTo>
                    <a:pt x="62204" y="0"/>
                  </a:moveTo>
                  <a:lnTo>
                    <a:pt x="429490" y="0"/>
                  </a:lnTo>
                  <a:cubicBezTo>
                    <a:pt x="463844" y="0"/>
                    <a:pt x="491694" y="27850"/>
                    <a:pt x="491694" y="62204"/>
                  </a:cubicBezTo>
                  <a:lnTo>
                    <a:pt x="491694" y="183643"/>
                  </a:lnTo>
                  <a:cubicBezTo>
                    <a:pt x="491694" y="200140"/>
                    <a:pt x="485140" y="215962"/>
                    <a:pt x="473475" y="227628"/>
                  </a:cubicBezTo>
                  <a:cubicBezTo>
                    <a:pt x="461809" y="239293"/>
                    <a:pt x="445987" y="245847"/>
                    <a:pt x="429490" y="245847"/>
                  </a:cubicBezTo>
                  <a:lnTo>
                    <a:pt x="62204" y="245847"/>
                  </a:lnTo>
                  <a:cubicBezTo>
                    <a:pt x="45707" y="245847"/>
                    <a:pt x="29885" y="239293"/>
                    <a:pt x="18219" y="227628"/>
                  </a:cubicBezTo>
                  <a:cubicBezTo>
                    <a:pt x="6554" y="215962"/>
                    <a:pt x="0" y="200140"/>
                    <a:pt x="0" y="183643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491694" cy="28394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Add even more sub-ideas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142665" y="7959048"/>
            <a:ext cx="2495550" cy="1181100"/>
            <a:chOff x="0" y="0"/>
            <a:chExt cx="657264" cy="31107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57264" cy="311072"/>
            </a:xfrm>
            <a:custGeom>
              <a:avLst/>
              <a:gdLst/>
              <a:ahLst/>
              <a:cxnLst/>
              <a:rect l="l" t="t" r="r" b="b"/>
              <a:pathLst>
                <a:path w="657264" h="311072">
                  <a:moveTo>
                    <a:pt x="46534" y="0"/>
                  </a:moveTo>
                  <a:lnTo>
                    <a:pt x="610730" y="0"/>
                  </a:lnTo>
                  <a:cubicBezTo>
                    <a:pt x="636430" y="0"/>
                    <a:pt x="657264" y="20834"/>
                    <a:pt x="657264" y="46534"/>
                  </a:cubicBezTo>
                  <a:lnTo>
                    <a:pt x="657264" y="264537"/>
                  </a:lnTo>
                  <a:cubicBezTo>
                    <a:pt x="657264" y="290237"/>
                    <a:pt x="636430" y="311072"/>
                    <a:pt x="610730" y="311072"/>
                  </a:cubicBezTo>
                  <a:lnTo>
                    <a:pt x="46534" y="311072"/>
                  </a:lnTo>
                  <a:cubicBezTo>
                    <a:pt x="20834" y="311072"/>
                    <a:pt x="0" y="290237"/>
                    <a:pt x="0" y="264537"/>
                  </a:cubicBezTo>
                  <a:lnTo>
                    <a:pt x="0" y="46534"/>
                  </a:lnTo>
                  <a:cubicBezTo>
                    <a:pt x="0" y="20834"/>
                    <a:pt x="20834" y="0"/>
                    <a:pt x="46534" y="0"/>
                  </a:cubicBezTo>
                  <a:close/>
                </a:path>
              </a:pathLst>
            </a:custGeom>
            <a:solidFill>
              <a:srgbClr val="3EDAD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657264" cy="349172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 Analyze environment in collaboration with CoW’s IT department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 flipH="1">
            <a:off x="6638215" y="7162800"/>
            <a:ext cx="1258010" cy="1386798"/>
          </a:xfrm>
          <a:prstGeom prst="line">
            <a:avLst/>
          </a:prstGeom>
          <a:ln w="47625" cap="flat">
            <a:solidFill>
              <a:srgbClr val="EDF0F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4142665" y="5981700"/>
            <a:ext cx="2495550" cy="1181100"/>
            <a:chOff x="0" y="0"/>
            <a:chExt cx="657264" cy="31107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57264" cy="311072"/>
            </a:xfrm>
            <a:custGeom>
              <a:avLst/>
              <a:gdLst/>
              <a:ahLst/>
              <a:cxnLst/>
              <a:rect l="l" t="t" r="r" b="b"/>
              <a:pathLst>
                <a:path w="657264" h="311072">
                  <a:moveTo>
                    <a:pt x="46534" y="0"/>
                  </a:moveTo>
                  <a:lnTo>
                    <a:pt x="610730" y="0"/>
                  </a:lnTo>
                  <a:cubicBezTo>
                    <a:pt x="636430" y="0"/>
                    <a:pt x="657264" y="20834"/>
                    <a:pt x="657264" y="46534"/>
                  </a:cubicBezTo>
                  <a:lnTo>
                    <a:pt x="657264" y="264537"/>
                  </a:lnTo>
                  <a:cubicBezTo>
                    <a:pt x="657264" y="290237"/>
                    <a:pt x="636430" y="311072"/>
                    <a:pt x="610730" y="311072"/>
                  </a:cubicBezTo>
                  <a:lnTo>
                    <a:pt x="46534" y="311072"/>
                  </a:lnTo>
                  <a:cubicBezTo>
                    <a:pt x="20834" y="311072"/>
                    <a:pt x="0" y="290237"/>
                    <a:pt x="0" y="264537"/>
                  </a:cubicBezTo>
                  <a:lnTo>
                    <a:pt x="0" y="46534"/>
                  </a:lnTo>
                  <a:cubicBezTo>
                    <a:pt x="0" y="20834"/>
                    <a:pt x="20834" y="0"/>
                    <a:pt x="46534" y="0"/>
                  </a:cubicBezTo>
                  <a:close/>
                </a:path>
              </a:pathLst>
            </a:custGeom>
            <a:solidFill>
              <a:srgbClr val="3EDAD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57264" cy="349172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Analyze system requirements for a revamped data storage</a:t>
              </a:r>
            </a:p>
          </p:txBody>
        </p:sp>
      </p:grpSp>
      <p:sp>
        <p:nvSpPr>
          <p:cNvPr id="44" name="AutoShape 44"/>
          <p:cNvSpPr/>
          <p:nvPr/>
        </p:nvSpPr>
        <p:spPr>
          <a:xfrm flipH="1" flipV="1">
            <a:off x="6638215" y="6572250"/>
            <a:ext cx="1258010" cy="590550"/>
          </a:xfrm>
          <a:prstGeom prst="line">
            <a:avLst/>
          </a:prstGeom>
          <a:ln w="47625" cap="flat">
            <a:solidFill>
              <a:srgbClr val="EDF0F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5" name="AutoShape 45"/>
          <p:cNvSpPr/>
          <p:nvPr/>
        </p:nvSpPr>
        <p:spPr>
          <a:xfrm flipH="1">
            <a:off x="2895600" y="8549598"/>
            <a:ext cx="1247065" cy="116857"/>
          </a:xfrm>
          <a:prstGeom prst="line">
            <a:avLst/>
          </a:prstGeom>
          <a:ln w="47625" cap="flat">
            <a:solidFill>
              <a:srgbClr val="EDF0F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6" name="AutoShape 46"/>
          <p:cNvSpPr/>
          <p:nvPr/>
        </p:nvSpPr>
        <p:spPr>
          <a:xfrm flipH="1" flipV="1">
            <a:off x="2907789" y="7407893"/>
            <a:ext cx="1234875" cy="1141706"/>
          </a:xfrm>
          <a:prstGeom prst="line">
            <a:avLst/>
          </a:prstGeom>
          <a:ln w="47625" cap="flat">
            <a:solidFill>
              <a:srgbClr val="EDF0F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47" name="Group 47"/>
          <p:cNvGrpSpPr/>
          <p:nvPr/>
        </p:nvGrpSpPr>
        <p:grpSpPr>
          <a:xfrm>
            <a:off x="1028700" y="8199731"/>
            <a:ext cx="1866900" cy="933450"/>
            <a:chOff x="0" y="0"/>
            <a:chExt cx="491694" cy="24584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91694" cy="245847"/>
            </a:xfrm>
            <a:custGeom>
              <a:avLst/>
              <a:gdLst/>
              <a:ahLst/>
              <a:cxnLst/>
              <a:rect l="l" t="t" r="r" b="b"/>
              <a:pathLst>
                <a:path w="491694" h="245847">
                  <a:moveTo>
                    <a:pt x="62204" y="0"/>
                  </a:moveTo>
                  <a:lnTo>
                    <a:pt x="429490" y="0"/>
                  </a:lnTo>
                  <a:cubicBezTo>
                    <a:pt x="463844" y="0"/>
                    <a:pt x="491694" y="27850"/>
                    <a:pt x="491694" y="62204"/>
                  </a:cubicBezTo>
                  <a:lnTo>
                    <a:pt x="491694" y="183643"/>
                  </a:lnTo>
                  <a:cubicBezTo>
                    <a:pt x="491694" y="200140"/>
                    <a:pt x="485140" y="215962"/>
                    <a:pt x="473475" y="227628"/>
                  </a:cubicBezTo>
                  <a:cubicBezTo>
                    <a:pt x="461809" y="239293"/>
                    <a:pt x="445987" y="245847"/>
                    <a:pt x="429490" y="245847"/>
                  </a:cubicBezTo>
                  <a:lnTo>
                    <a:pt x="62204" y="245847"/>
                  </a:lnTo>
                  <a:cubicBezTo>
                    <a:pt x="45707" y="245847"/>
                    <a:pt x="29885" y="239293"/>
                    <a:pt x="18219" y="227628"/>
                  </a:cubicBezTo>
                  <a:cubicBezTo>
                    <a:pt x="6554" y="215962"/>
                    <a:pt x="0" y="200140"/>
                    <a:pt x="0" y="183643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91694" cy="28394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Add even more sub-ideas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40889" y="6941168"/>
            <a:ext cx="1866900" cy="933450"/>
            <a:chOff x="0" y="0"/>
            <a:chExt cx="491694" cy="24584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91694" cy="245847"/>
            </a:xfrm>
            <a:custGeom>
              <a:avLst/>
              <a:gdLst/>
              <a:ahLst/>
              <a:cxnLst/>
              <a:rect l="l" t="t" r="r" b="b"/>
              <a:pathLst>
                <a:path w="491694" h="245847">
                  <a:moveTo>
                    <a:pt x="62204" y="0"/>
                  </a:moveTo>
                  <a:lnTo>
                    <a:pt x="429490" y="0"/>
                  </a:lnTo>
                  <a:cubicBezTo>
                    <a:pt x="463844" y="0"/>
                    <a:pt x="491694" y="27850"/>
                    <a:pt x="491694" y="62204"/>
                  </a:cubicBezTo>
                  <a:lnTo>
                    <a:pt x="491694" y="183643"/>
                  </a:lnTo>
                  <a:cubicBezTo>
                    <a:pt x="491694" y="200140"/>
                    <a:pt x="485140" y="215962"/>
                    <a:pt x="473475" y="227628"/>
                  </a:cubicBezTo>
                  <a:cubicBezTo>
                    <a:pt x="461809" y="239293"/>
                    <a:pt x="445987" y="245847"/>
                    <a:pt x="429490" y="245847"/>
                  </a:cubicBezTo>
                  <a:lnTo>
                    <a:pt x="62204" y="245847"/>
                  </a:lnTo>
                  <a:cubicBezTo>
                    <a:pt x="45707" y="245847"/>
                    <a:pt x="29885" y="239293"/>
                    <a:pt x="18219" y="227628"/>
                  </a:cubicBezTo>
                  <a:cubicBezTo>
                    <a:pt x="6554" y="215962"/>
                    <a:pt x="0" y="200140"/>
                    <a:pt x="0" y="183643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491694" cy="28394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Add even more sub-ideas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028700" y="1019175"/>
            <a:ext cx="623852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STATUS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Custom</PresentationFormat>
  <Paragraphs>150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Aileron Ultra-Bold</vt:lpstr>
      <vt:lpstr>Arial</vt:lpstr>
      <vt:lpstr>Aileron Bold</vt:lpstr>
      <vt:lpstr>Calibri</vt:lpstr>
      <vt:lpstr>Aileron</vt:lpstr>
      <vt:lpstr>Aileron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CoW-Project Update Presentation</dc:title>
  <cp:lastModifiedBy>Nguyen, Thi</cp:lastModifiedBy>
  <cp:revision>2</cp:revision>
  <dcterms:created xsi:type="dcterms:W3CDTF">2006-08-16T00:00:00Z</dcterms:created>
  <dcterms:modified xsi:type="dcterms:W3CDTF">2025-11-05T21:59:23Z</dcterms:modified>
  <dc:identifier>DAG33VZFBuY</dc:identifier>
</cp:coreProperties>
</file>