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Aileron Bold" charset="1" panose="00000800000000000000"/>
      <p:regular r:id="rId8"/>
    </p:embeddedFont>
    <p:embeddedFont>
      <p:font typeface="Aileron" charset="1" panose="00000500000000000000"/>
      <p:regular r:id="rId9"/>
    </p:embeddedFont>
    <p:embeddedFont>
      <p:font typeface="Aileron Ultra-Bold" charset="1" panose="00000A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-23536"/>
          <a:ext cx="18288000" cy="10310536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53299"/>
                <a:gridCol w="3042701"/>
                <a:gridCol w="3048000"/>
                <a:gridCol w="3048000"/>
              </a:tblGrid>
              <a:tr h="103105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sz="2400" b="true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Nov 17 - Dec 5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Da</a:t>
                      </a:r>
                      <a:r>
                        <a:rPr lang="en-US" sz="1800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ta Governance and System Requirements Review</a:t>
                      </a: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b="true" sz="2400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Dec 8 - Dec 24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Devel</a:t>
                      </a: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opment of Data Storage and Analysis Environment</a:t>
                      </a: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b="true" sz="2400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1 - 15,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Public Survey Data Analysis 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b="true" sz="2400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16 - 30</a:t>
                      </a:r>
                      <a:r>
                        <a:rPr lang="en-US" b="true" sz="2400" spc="36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Power BI Dashboard Development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3599"/>
                        </a:lnSpc>
                      </a:pPr>
                      <a:r>
                        <a:rPr lang="en-US" b="true" sz="2399" spc="35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16 - 30, </a:t>
                      </a:r>
                      <a:r>
                        <a:rPr lang="en-US" b="true" sz="2399" spc="35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Rev</a:t>
                      </a: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iew of 2026 Budgetary KPIs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  <a:p>
                      <a:pPr algn="ctr">
                        <a:lnSpc>
                          <a:spcPts val="3599"/>
                        </a:lnSpc>
                      </a:pPr>
                      <a:r>
                        <a:rPr lang="en-US" b="true" sz="2399" spc="35">
                          <a:solidFill>
                            <a:srgbClr val="191919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Jan 30, 2026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</a:t>
                      </a:r>
                      <a:r>
                        <a:rPr lang="en-US" sz="1800" spc="26">
                          <a:solidFill>
                            <a:srgbClr val="191919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roject Review and Finalization</a:t>
                      </a:r>
                    </a:p>
                    <a:p>
                      <a:pPr algn="ctr">
                        <a:lnSpc>
                          <a:spcPts val="2700"/>
                        </a:lnSpc>
                      </a:pP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-829633">
            <a:off x="101452" y="8486967"/>
            <a:ext cx="20724935" cy="5634207"/>
            <a:chOff x="0" y="0"/>
            <a:chExt cx="5458419" cy="1483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8419" cy="1483907"/>
            </a:xfrm>
            <a:custGeom>
              <a:avLst/>
              <a:gdLst/>
              <a:ahLst/>
              <a:cxnLst/>
              <a:rect r="r" b="b" t="t" l="l"/>
              <a:pathLst>
                <a:path h="1483907" w="5458419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29633">
            <a:off x="-2015856" y="-2222871"/>
            <a:ext cx="20724935" cy="5634207"/>
            <a:chOff x="0" y="0"/>
            <a:chExt cx="5458419" cy="14839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8419" cy="1483907"/>
            </a:xfrm>
            <a:custGeom>
              <a:avLst/>
              <a:gdLst/>
              <a:ahLst/>
              <a:cxnLst/>
              <a:rect r="r" b="b" t="t" l="l"/>
              <a:pathLst>
                <a:path h="1483907" w="5458419">
                  <a:moveTo>
                    <a:pt x="0" y="0"/>
                  </a:moveTo>
                  <a:lnTo>
                    <a:pt x="5458419" y="0"/>
                  </a:lnTo>
                  <a:lnTo>
                    <a:pt x="5458419" y="1483907"/>
                  </a:lnTo>
                  <a:lnTo>
                    <a:pt x="0" y="148390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58419" cy="1522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563791"/>
            <a:ext cx="946844" cy="946844"/>
            <a:chOff x="0" y="0"/>
            <a:chExt cx="556826" cy="5568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6826" cy="556826"/>
            </a:xfrm>
            <a:custGeom>
              <a:avLst/>
              <a:gdLst/>
              <a:ahLst/>
              <a:cxnLst/>
              <a:rect r="r" b="b" t="t" l="l"/>
              <a:pathLst>
                <a:path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106063" y="5882882"/>
            <a:ext cx="792119" cy="47625"/>
          </a:xfrm>
          <a:prstGeom prst="line">
            <a:avLst/>
          </a:prstGeom>
          <a:ln cap="flat" w="47625">
            <a:solidFill>
              <a:srgbClr val="86EAE9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16293406" y="884521"/>
            <a:ext cx="946844" cy="946844"/>
            <a:chOff x="0" y="0"/>
            <a:chExt cx="556826" cy="556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6826" cy="556826"/>
            </a:xfrm>
            <a:custGeom>
              <a:avLst/>
              <a:gdLst/>
              <a:ahLst/>
              <a:cxnLst/>
              <a:rect r="r" b="b" t="t" l="l"/>
              <a:pathLst>
                <a:path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6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6398901" y="2175480"/>
            <a:ext cx="735854" cy="47625"/>
          </a:xfrm>
          <a:prstGeom prst="line">
            <a:avLst/>
          </a:prstGeom>
          <a:ln cap="flat" w="47625">
            <a:solidFill>
              <a:srgbClr val="13538A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3240464" y="1620375"/>
            <a:ext cx="946844" cy="946844"/>
            <a:chOff x="0" y="0"/>
            <a:chExt cx="556826" cy="5568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6826" cy="556826"/>
            </a:xfrm>
            <a:custGeom>
              <a:avLst/>
              <a:gdLst/>
              <a:ahLst/>
              <a:cxnLst/>
              <a:rect r="r" b="b" t="t" l="l"/>
              <a:pathLst>
                <a:path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C88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345960" y="2911334"/>
            <a:ext cx="735854" cy="47625"/>
          </a:xfrm>
          <a:prstGeom prst="line">
            <a:avLst/>
          </a:prstGeom>
          <a:ln cap="flat" w="47625">
            <a:solidFill>
              <a:srgbClr val="1C88CF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0187523" y="2356229"/>
            <a:ext cx="946844" cy="946844"/>
            <a:chOff x="0" y="0"/>
            <a:chExt cx="556826" cy="5568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6826" cy="556826"/>
            </a:xfrm>
            <a:custGeom>
              <a:avLst/>
              <a:gdLst/>
              <a:ahLst/>
              <a:cxnLst/>
              <a:rect r="r" b="b" t="t" l="l"/>
              <a:pathLst>
                <a:path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8AFD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293019" y="3647188"/>
            <a:ext cx="735854" cy="47625"/>
          </a:xfrm>
          <a:prstGeom prst="line">
            <a:avLst/>
          </a:prstGeom>
          <a:ln cap="flat" w="47625">
            <a:solidFill>
              <a:srgbClr val="18AFD6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7134582" y="3092083"/>
            <a:ext cx="946844" cy="946844"/>
            <a:chOff x="0" y="0"/>
            <a:chExt cx="556826" cy="5568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6826" cy="556826"/>
            </a:xfrm>
            <a:custGeom>
              <a:avLst/>
              <a:gdLst/>
              <a:ahLst/>
              <a:cxnLst/>
              <a:rect r="r" b="b" t="t" l="l"/>
              <a:pathLst>
                <a:path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7240077" y="4383042"/>
            <a:ext cx="735854" cy="47625"/>
          </a:xfrm>
          <a:prstGeom prst="line">
            <a:avLst/>
          </a:prstGeom>
          <a:ln cap="flat" w="47625">
            <a:solidFill>
              <a:srgbClr val="37C9EF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4081641" y="3827937"/>
            <a:ext cx="946844" cy="946844"/>
            <a:chOff x="0" y="0"/>
            <a:chExt cx="556826" cy="5568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6826" cy="556826"/>
            </a:xfrm>
            <a:custGeom>
              <a:avLst/>
              <a:gdLst/>
              <a:ahLst/>
              <a:cxnLst/>
              <a:rect r="r" b="b" t="t" l="l"/>
              <a:pathLst>
                <a:path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4187136" y="5118895"/>
            <a:ext cx="735854" cy="47625"/>
          </a:xfrm>
          <a:prstGeom prst="line">
            <a:avLst/>
          </a:prstGeom>
          <a:ln cap="flat" w="47625">
            <a:solidFill>
              <a:srgbClr val="3EDAD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33" id="33"/>
          <p:cNvSpPr txBox="true"/>
          <p:nvPr/>
        </p:nvSpPr>
        <p:spPr>
          <a:xfrm rot="0">
            <a:off x="1050383" y="995919"/>
            <a:ext cx="126635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107">
                <a:solidFill>
                  <a:srgbClr val="191919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PROJECT TIMELINE &amp; KEY DELIVERABLES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DAG33VZFBuY</dc:identifier>
  <dcterms:modified xsi:type="dcterms:W3CDTF">2011-08-01T06:04:30Z</dcterms:modified>
  <cp:revision>1</cp:revision>
  <dc:title>Project timeline &amp; key deliverables</dc:title>
</cp:coreProperties>
</file>